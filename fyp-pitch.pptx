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73" r:id="rId3"/>
    <p:sldId id="277" r:id="rId4"/>
    <p:sldId id="267" r:id="rId5"/>
    <p:sldId id="268" r:id="rId6"/>
    <p:sldId id="269" r:id="rId7"/>
    <p:sldId id="274" r:id="rId8"/>
    <p:sldId id="271" r:id="rId9"/>
    <p:sldId id="275" r:id="rId10"/>
    <p:sldId id="276" r:id="rId11"/>
    <p:sldId id="262" r:id="rId1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1361" autoAdjust="0"/>
  </p:normalViewPr>
  <p:slideViewPr>
    <p:cSldViewPr showGuides="1">
      <p:cViewPr>
        <p:scale>
          <a:sx n="83" d="100"/>
          <a:sy n="83" d="100"/>
        </p:scale>
        <p:origin x="643" y="72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Amazon </a:t>
            </a:r>
            <a:r>
              <a:rPr lang="en-US" b="1" dirty="0" err="1"/>
              <a:t>Rekognition</a:t>
            </a:r>
            <a:r>
              <a:rPr lang="en-US" b="1" dirty="0"/>
              <a:t> / Sighthound</a:t>
            </a:r>
            <a:r>
              <a:rPr lang="en-US" dirty="0"/>
              <a:t> → Tools for recognizing faces and objects in images/videos.</a:t>
            </a:r>
          </a:p>
          <a:p>
            <a:r>
              <a:rPr lang="en-US" b="1" dirty="0"/>
              <a:t>TRADES</a:t>
            </a:r>
            <a:r>
              <a:rPr lang="en-US" dirty="0"/>
              <a:t> → A training method to make AI models harder to fool with adversarial tricks.</a:t>
            </a:r>
          </a:p>
          <a:p>
            <a:r>
              <a:rPr lang="en-US" b="1" dirty="0" err="1"/>
              <a:t>PixelDefend</a:t>
            </a:r>
            <a:r>
              <a:rPr lang="en-US" dirty="0"/>
              <a:t> → A filter that “cleans” images before giving them to the AI.</a:t>
            </a:r>
          </a:p>
          <a:p>
            <a:r>
              <a:rPr lang="en-US" b="1" dirty="0" err="1"/>
              <a:t>YOLOShield</a:t>
            </a:r>
            <a:r>
              <a:rPr lang="en-US" dirty="0"/>
              <a:t> → A defense upgrade made only for the YOLO object detection model.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77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24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FGSM = quick/simple attack</a:t>
            </a:r>
            <a:endParaRPr lang="en-US" dirty="0"/>
          </a:p>
          <a:p>
            <a:r>
              <a:rPr lang="en-US" b="1" dirty="0"/>
              <a:t>PGD = stronger repeated attack</a:t>
            </a:r>
            <a:endParaRPr lang="en-US" dirty="0"/>
          </a:p>
          <a:p>
            <a:r>
              <a:rPr lang="en-US" b="1" dirty="0" err="1"/>
              <a:t>EoT</a:t>
            </a:r>
            <a:r>
              <a:rPr lang="en-US" b="1" dirty="0"/>
              <a:t> = makes attacks robust in the real world</a:t>
            </a:r>
            <a:endParaRPr lang="en-US" dirty="0"/>
          </a:p>
          <a:p>
            <a:r>
              <a:rPr lang="en-US" b="1"/>
              <a:t>GANs = smart generator of tricky fake/adversarial data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83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9/12/2025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9/12/2025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9/12/2025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9/12/2025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9/12/2025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9/12/2025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9/12/2025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PhantomNet++</a:t>
            </a:r>
            <a:r>
              <a:rPr lang="en-US"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932944" cy="111608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A Distributed Framework for Simulating, Detecting, and Defending Against Physical Adversarial Attacks on Vision-Based DNNs</a:t>
            </a:r>
          </a:p>
          <a:p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19010A-A103-9BAC-AA6D-1CCE20E7E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13" y="5867400"/>
            <a:ext cx="895348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615AC-7A27-F975-3770-5BE952D15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4F1DD-A7CF-92F6-ACA7-1FCDE071F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Simulate physical adversarial attacks (patch, occlusion, wearable) using </a:t>
            </a:r>
            <a:r>
              <a:rPr lang="en-US" dirty="0" err="1"/>
              <a:t>Foolbox</a:t>
            </a:r>
            <a:r>
              <a:rPr lang="en-US" dirty="0"/>
              <a:t>, ART (Adversarial Robustness Toolbox), GANs (Generative Adversarial Networks).</a:t>
            </a:r>
          </a:p>
          <a:p>
            <a:pPr>
              <a:lnSpc>
                <a:spcPct val="120000"/>
              </a:lnSpc>
            </a:pPr>
            <a:r>
              <a:rPr lang="en-US" dirty="0"/>
              <a:t>Develop a </a:t>
            </a:r>
            <a:r>
              <a:rPr lang="en-US" b="1" dirty="0"/>
              <a:t>Distributed Neural Defense System (DNNS)</a:t>
            </a:r>
            <a:r>
              <a:rPr lang="en-US" dirty="0"/>
              <a:t> with multi-agent ensemble.</a:t>
            </a:r>
          </a:p>
          <a:p>
            <a:pPr>
              <a:lnSpc>
                <a:spcPct val="120000"/>
              </a:lnSpc>
            </a:pPr>
            <a:r>
              <a:rPr lang="en-US" dirty="0"/>
              <a:t>Train robust </a:t>
            </a:r>
            <a:r>
              <a:rPr lang="en-US" b="1" dirty="0"/>
              <a:t>quantized models</a:t>
            </a:r>
            <a:r>
              <a:rPr lang="en-US" dirty="0"/>
              <a:t> with </a:t>
            </a:r>
            <a:r>
              <a:rPr lang="en-US" dirty="0" err="1"/>
              <a:t>QKeras</a:t>
            </a:r>
            <a:r>
              <a:rPr lang="en-US" dirty="0"/>
              <a:t> + Jacobian Regularization.</a:t>
            </a:r>
          </a:p>
          <a:p>
            <a:pPr>
              <a:lnSpc>
                <a:spcPct val="120000"/>
              </a:lnSpc>
            </a:pPr>
            <a:r>
              <a:rPr lang="en-US" dirty="0"/>
              <a:t>Incorporate </a:t>
            </a:r>
            <a:r>
              <a:rPr lang="en-US" b="1" dirty="0"/>
              <a:t>Explainable AI</a:t>
            </a:r>
            <a:r>
              <a:rPr lang="en-US" dirty="0"/>
              <a:t> (LIME, SHAP, Grad-CAM).</a:t>
            </a:r>
          </a:p>
          <a:p>
            <a:pPr>
              <a:lnSpc>
                <a:spcPct val="120000"/>
              </a:lnSpc>
            </a:pPr>
            <a:r>
              <a:rPr lang="en-US" dirty="0"/>
              <a:t>Implement </a:t>
            </a:r>
            <a:r>
              <a:rPr lang="en-US" b="1" dirty="0"/>
              <a:t>Autonomous Response Engine (ARE)</a:t>
            </a:r>
            <a:r>
              <a:rPr lang="en-US" dirty="0"/>
              <a:t> for policy-driven mitigation.</a:t>
            </a:r>
          </a:p>
          <a:p>
            <a:pPr>
              <a:lnSpc>
                <a:spcPct val="120000"/>
              </a:lnSpc>
            </a:pPr>
            <a:r>
              <a:rPr lang="en-US" dirty="0"/>
              <a:t>Secure inter-agent communication (TLS, RSA, AES).</a:t>
            </a:r>
          </a:p>
          <a:p>
            <a:pPr>
              <a:lnSpc>
                <a:spcPct val="120000"/>
              </a:lnSpc>
            </a:pPr>
            <a:r>
              <a:rPr lang="en-US" dirty="0"/>
              <a:t>Develop </a:t>
            </a:r>
            <a:r>
              <a:rPr lang="en-US" b="1" dirty="0"/>
              <a:t>real-time monitoring dashboard</a:t>
            </a:r>
            <a:r>
              <a:rPr lang="en-US" dirty="0"/>
              <a:t> with React.js + ELK Stack.</a:t>
            </a:r>
          </a:p>
          <a:p>
            <a:pPr>
              <a:lnSpc>
                <a:spcPct val="120000"/>
              </a:lnSpc>
            </a:pPr>
            <a:r>
              <a:rPr lang="en-US" dirty="0"/>
              <a:t>Ensure scalability &amp; modular deployment via Docker/Kubernetes.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044841-1302-23CB-97CB-12F4C35DD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762000"/>
            <a:ext cx="457200" cy="45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2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811537-A13E-6E48-3FB3-D633E74EA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11" y="609600"/>
            <a:ext cx="9829801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34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Existing Solutions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Amazon </a:t>
            </a:r>
            <a:r>
              <a:rPr lang="en-US" sz="2400" b="1" dirty="0" err="1"/>
              <a:t>Rekognition</a:t>
            </a:r>
            <a:r>
              <a:rPr lang="en-US" sz="2400" b="1" dirty="0"/>
              <a:t> / Sighthound</a:t>
            </a:r>
            <a:r>
              <a:rPr lang="en-US" sz="2400" dirty="0"/>
              <a:t> → Strong recognition but no adversarial robustness.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TRADES</a:t>
            </a:r>
            <a:r>
              <a:rPr lang="en-US" sz="2400" dirty="0"/>
              <a:t> → Improves robustness but lacks detection, explanation, or automated response.</a:t>
            </a:r>
          </a:p>
          <a:p>
            <a:pPr>
              <a:lnSpc>
                <a:spcPct val="100000"/>
              </a:lnSpc>
            </a:pPr>
            <a:r>
              <a:rPr lang="en-US" sz="2400" b="1" dirty="0" err="1"/>
              <a:t>PixelDefend</a:t>
            </a:r>
            <a:r>
              <a:rPr lang="en-US" sz="2400" dirty="0"/>
              <a:t> → Works only on digital adversarial images, not physical-world attacks.</a:t>
            </a:r>
          </a:p>
          <a:p>
            <a:pPr>
              <a:lnSpc>
                <a:spcPct val="100000"/>
              </a:lnSpc>
            </a:pPr>
            <a:r>
              <a:rPr lang="en-US" sz="2400" b="1" dirty="0" err="1"/>
              <a:t>YOLOShield</a:t>
            </a:r>
            <a:r>
              <a:rPr lang="en-US" sz="2400" dirty="0"/>
              <a:t> → Restricted to YOLO models; lacks multi-model adaptability.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Gap:</a:t>
            </a:r>
            <a:r>
              <a:rPr lang="en-US" sz="2400" dirty="0"/>
              <a:t> No integrated, distributed, and explainable framework for </a:t>
            </a:r>
            <a:r>
              <a:rPr lang="en-US" sz="2400" b="1" dirty="0"/>
              <a:t>real-time defense against physical adversarial threats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EF8C8D-B4EF-2390-B1D3-E522649B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12" y="762000"/>
            <a:ext cx="457200" cy="45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2" y="199939"/>
            <a:ext cx="9782801" cy="812800"/>
          </a:xfrm>
        </p:spPr>
        <p:txBody>
          <a:bodyPr/>
          <a:lstStyle/>
          <a:p>
            <a:r>
              <a:rPr lang="en-US" b="1" dirty="0"/>
              <a:t>Workflow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ECC82D-8D99-F9AA-718E-8E269A4FE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762000"/>
            <a:ext cx="457200" cy="455296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47D2C0D-8F18-8ECC-ED59-FFAA968612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27212" y="990601"/>
            <a:ext cx="9220200" cy="5410199"/>
          </a:xfrm>
        </p:spPr>
      </p:pic>
    </p:spTree>
    <p:extLst>
      <p:ext uri="{BB962C8B-B14F-4D97-AF65-F5344CB8AC3E}">
        <p14:creationId xmlns:p14="http://schemas.microsoft.com/office/powerpoint/2010/main" val="57191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Complexity of Problem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A9372E-C96C-A418-D2B4-7B668E590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12" y="762000"/>
            <a:ext cx="457200" cy="455296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2A61D3-F4F0-0CAA-68AE-C802B23205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530176" cy="4572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Tackles </a:t>
            </a:r>
            <a:r>
              <a:rPr lang="en-US" b="1" dirty="0"/>
              <a:t>physical adversarial AI attacks</a:t>
            </a:r>
            <a:r>
              <a:rPr lang="en-US" dirty="0"/>
              <a:t>, which are far more complex than digital perturbations.</a:t>
            </a:r>
          </a:p>
          <a:p>
            <a:pPr>
              <a:lnSpc>
                <a:spcPct val="100000"/>
              </a:lnSpc>
            </a:pPr>
            <a:r>
              <a:rPr lang="en-US" dirty="0"/>
              <a:t>Distributed agents with </a:t>
            </a:r>
            <a:r>
              <a:rPr lang="en-US" b="1" dirty="0"/>
              <a:t>consensus-based decision-making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Edge deployment</a:t>
            </a:r>
            <a:r>
              <a:rPr lang="en-US" dirty="0"/>
              <a:t> of quantized models for low-latency defense.</a:t>
            </a:r>
          </a:p>
          <a:p>
            <a:pPr>
              <a:lnSpc>
                <a:spcPct val="100000"/>
              </a:lnSpc>
            </a:pPr>
            <a:r>
              <a:rPr lang="en-US" dirty="0"/>
              <a:t>Integration of </a:t>
            </a:r>
            <a:r>
              <a:rPr lang="en-US" b="1" dirty="0"/>
              <a:t>attack simulation, detection, </a:t>
            </a:r>
            <a:r>
              <a:rPr lang="en-US" b="1" dirty="0" err="1"/>
              <a:t>explainability</a:t>
            </a:r>
            <a:r>
              <a:rPr lang="en-US" b="1" dirty="0"/>
              <a:t>, automated response, and secure coordination</a:t>
            </a:r>
            <a:r>
              <a:rPr lang="en-US" dirty="0"/>
              <a:t> in one framework.</a:t>
            </a:r>
          </a:p>
        </p:txBody>
      </p:sp>
    </p:spTree>
    <p:extLst>
      <p:ext uri="{BB962C8B-B14F-4D97-AF65-F5344CB8AC3E}">
        <p14:creationId xmlns:p14="http://schemas.microsoft.com/office/powerpoint/2010/main" val="259333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6F378-56A0-A9F0-86FB-4E3B1B88F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A8080-5654-2E6A-CB87-8C0FF6D5C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45720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Data Gathering</a:t>
            </a:r>
            <a:r>
              <a:rPr lang="en-US" dirty="0"/>
              <a:t> → ImageNet, CIFAR-10, </a:t>
            </a:r>
            <a:r>
              <a:rPr lang="en-US" dirty="0" err="1"/>
              <a:t>ShapeNet</a:t>
            </a:r>
            <a:r>
              <a:rPr lang="en-US" dirty="0"/>
              <a:t>, COCO, ART adversarial datasets.</a:t>
            </a:r>
          </a:p>
          <a:p>
            <a:pPr>
              <a:lnSpc>
                <a:spcPct val="120000"/>
              </a:lnSpc>
            </a:pPr>
            <a:r>
              <a:rPr lang="en-US" b="1" dirty="0"/>
              <a:t>Attack Simulation</a:t>
            </a:r>
            <a:r>
              <a:rPr lang="en-US" dirty="0"/>
              <a:t> → Generate adversarial inputs using GANs, FGSM (Fast Gradient Sign Method), PGD (Projected Gradient Descent), and </a:t>
            </a:r>
            <a:r>
              <a:rPr lang="en-US" dirty="0" err="1"/>
              <a:t>EoT</a:t>
            </a:r>
            <a:r>
              <a:rPr lang="en-US" dirty="0"/>
              <a:t> (Expectation over Transformation).</a:t>
            </a:r>
          </a:p>
          <a:p>
            <a:pPr>
              <a:lnSpc>
                <a:spcPct val="120000"/>
              </a:lnSpc>
            </a:pPr>
            <a:r>
              <a:rPr lang="en-US" b="1" dirty="0"/>
              <a:t>Defense System</a:t>
            </a:r>
            <a:r>
              <a:rPr lang="en-US" dirty="0"/>
              <a:t> → Deploy ensemble of </a:t>
            </a:r>
            <a:r>
              <a:rPr lang="en-US" dirty="0" err="1"/>
              <a:t>ResNet</a:t>
            </a:r>
            <a:r>
              <a:rPr lang="en-US" dirty="0"/>
              <a:t> &amp; YOLOv5 in distributed agents.</a:t>
            </a:r>
          </a:p>
          <a:p>
            <a:pPr>
              <a:lnSpc>
                <a:spcPct val="120000"/>
              </a:lnSpc>
            </a:pPr>
            <a:r>
              <a:rPr lang="en-US" b="1" dirty="0"/>
              <a:t>Robust Model Training</a:t>
            </a:r>
            <a:r>
              <a:rPr lang="en-US" dirty="0"/>
              <a:t> → Quantization + Jacobian Regularization (</a:t>
            </a:r>
            <a:r>
              <a:rPr lang="en-US" dirty="0" err="1"/>
              <a:t>QKeras</a:t>
            </a:r>
            <a:r>
              <a:rPr lang="en-US" dirty="0"/>
              <a:t>).</a:t>
            </a:r>
          </a:p>
          <a:p>
            <a:pPr>
              <a:lnSpc>
                <a:spcPct val="120000"/>
              </a:lnSpc>
            </a:pPr>
            <a:r>
              <a:rPr lang="en-US" b="1" dirty="0" err="1"/>
              <a:t>Explainability</a:t>
            </a:r>
            <a:r>
              <a:rPr lang="en-US" dirty="0"/>
              <a:t> → LIME, SHAP, Grad-CAM.</a:t>
            </a:r>
          </a:p>
          <a:p>
            <a:pPr>
              <a:lnSpc>
                <a:spcPct val="120000"/>
              </a:lnSpc>
            </a:pPr>
            <a:r>
              <a:rPr lang="en-US" b="1" dirty="0"/>
              <a:t>Autonomous Response</a:t>
            </a:r>
            <a:r>
              <a:rPr lang="en-US" dirty="0"/>
              <a:t> → ARE policies for isolating threats &amp; model switching.</a:t>
            </a:r>
          </a:p>
          <a:p>
            <a:pPr>
              <a:lnSpc>
                <a:spcPct val="120000"/>
              </a:lnSpc>
            </a:pPr>
            <a:r>
              <a:rPr lang="en-US" b="1" dirty="0"/>
              <a:t>Secure Communication</a:t>
            </a:r>
            <a:r>
              <a:rPr lang="en-US" dirty="0"/>
              <a:t> → </a:t>
            </a:r>
            <a:r>
              <a:rPr lang="en-US" dirty="0" err="1"/>
              <a:t>gRPC</a:t>
            </a:r>
            <a:r>
              <a:rPr lang="en-US" dirty="0"/>
              <a:t> + TLS/RSA/AES.</a:t>
            </a:r>
          </a:p>
          <a:p>
            <a:pPr>
              <a:lnSpc>
                <a:spcPct val="120000"/>
              </a:lnSpc>
            </a:pPr>
            <a:r>
              <a:rPr lang="en-US" b="1" dirty="0"/>
              <a:t>Dashboard &amp; SIEM</a:t>
            </a:r>
            <a:r>
              <a:rPr lang="en-US" dirty="0"/>
              <a:t> → React.js + ELK for visualization &amp; forensic logs.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92AC1-62C5-C90B-A832-4913C8DA9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12" y="762000"/>
            <a:ext cx="457200" cy="45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9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 and Technologies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A40D20-ED4A-0DAD-B06A-832874EBB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762000"/>
            <a:ext cx="457200" cy="455296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135FED-1248-D2C0-78A5-84C7DF0FB4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782800" cy="4572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/>
              <a:t>Programming:</a:t>
            </a:r>
            <a:r>
              <a:rPr lang="en-US" dirty="0"/>
              <a:t> Python 3.10+</a:t>
            </a:r>
          </a:p>
          <a:p>
            <a:pPr>
              <a:lnSpc>
                <a:spcPct val="100000"/>
              </a:lnSpc>
            </a:pPr>
            <a:r>
              <a:rPr lang="en-US" b="1" dirty="0"/>
              <a:t>Frameworks:</a:t>
            </a:r>
            <a:r>
              <a:rPr lang="en-US" dirty="0"/>
              <a:t> TensorFlow, </a:t>
            </a:r>
            <a:r>
              <a:rPr lang="en-US" dirty="0" err="1"/>
              <a:t>PyTorch</a:t>
            </a:r>
            <a:r>
              <a:rPr lang="en-US" dirty="0"/>
              <a:t>, </a:t>
            </a:r>
            <a:r>
              <a:rPr lang="en-US" dirty="0" err="1"/>
              <a:t>Qkeras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b="1" dirty="0"/>
              <a:t>Libraries:</a:t>
            </a:r>
            <a:r>
              <a:rPr lang="en-US" dirty="0"/>
              <a:t> </a:t>
            </a:r>
            <a:r>
              <a:rPr lang="en-US" dirty="0" err="1"/>
              <a:t>Foolbox</a:t>
            </a:r>
            <a:r>
              <a:rPr lang="en-US" dirty="0"/>
              <a:t>, ART, SHAP, LIME, OpenCV</a:t>
            </a:r>
          </a:p>
          <a:p>
            <a:pPr>
              <a:lnSpc>
                <a:spcPct val="100000"/>
              </a:lnSpc>
            </a:pPr>
            <a:r>
              <a:rPr lang="en-US" b="1" dirty="0"/>
              <a:t>Containerization:</a:t>
            </a:r>
            <a:r>
              <a:rPr lang="en-US" dirty="0"/>
              <a:t> Docker, Kubernetes</a:t>
            </a:r>
          </a:p>
          <a:p>
            <a:pPr>
              <a:lnSpc>
                <a:spcPct val="100000"/>
              </a:lnSpc>
            </a:pPr>
            <a:r>
              <a:rPr lang="en-US" b="1" dirty="0"/>
              <a:t>Dashboard:</a:t>
            </a:r>
            <a:r>
              <a:rPr lang="en-US" dirty="0"/>
              <a:t> React.js, ELK Stack</a:t>
            </a:r>
          </a:p>
          <a:p>
            <a:pPr>
              <a:lnSpc>
                <a:spcPct val="100000"/>
              </a:lnSpc>
            </a:pPr>
            <a:r>
              <a:rPr lang="en-US" b="1" dirty="0"/>
              <a:t>Version Control:</a:t>
            </a:r>
            <a:r>
              <a:rPr lang="en-US" dirty="0"/>
              <a:t> Git, GitHub</a:t>
            </a:r>
          </a:p>
          <a:p>
            <a:pPr>
              <a:lnSpc>
                <a:spcPct val="100000"/>
              </a:lnSpc>
            </a:pPr>
            <a:r>
              <a:rPr lang="en-US" b="1" dirty="0"/>
              <a:t>IDE:</a:t>
            </a:r>
            <a:r>
              <a:rPr lang="en-US" dirty="0"/>
              <a:t> Visual Studio Code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726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D63C-E1FB-8946-2045-7F35C342C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Expected Outcomes and Relevance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0CED7-B545-2919-1EC7-D69728D09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9606376" cy="4572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/>
              <a:t>Deliverables: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Distributed AI framework prototype</a:t>
            </a:r>
            <a:endParaRPr lang="en-US" b="1" dirty="0"/>
          </a:p>
          <a:p>
            <a:pPr lvl="1">
              <a:lnSpc>
                <a:spcPct val="100000"/>
              </a:lnSpc>
            </a:pPr>
            <a:r>
              <a:rPr lang="en-US" dirty="0"/>
              <a:t>Attack simulation + detection engine</a:t>
            </a:r>
            <a:endParaRPr lang="en-US" b="1" dirty="0"/>
          </a:p>
          <a:p>
            <a:pPr lvl="1">
              <a:lnSpc>
                <a:spcPct val="100000"/>
              </a:lnSpc>
            </a:pPr>
            <a:r>
              <a:rPr lang="en-US" dirty="0"/>
              <a:t>Explainable AI–enabled dashboard</a:t>
            </a:r>
            <a:endParaRPr lang="en-US" b="1" dirty="0"/>
          </a:p>
          <a:p>
            <a:pPr lvl="1">
              <a:lnSpc>
                <a:spcPct val="100000"/>
              </a:lnSpc>
            </a:pPr>
            <a:r>
              <a:rPr lang="en-US" dirty="0"/>
              <a:t>Secure communication &amp; automated response modules</a:t>
            </a:r>
            <a:endParaRPr lang="en-US" b="1" dirty="0"/>
          </a:p>
          <a:p>
            <a:pPr>
              <a:lnSpc>
                <a:spcPct val="100000"/>
              </a:lnSpc>
            </a:pPr>
            <a:r>
              <a:rPr lang="en-US" b="1" dirty="0"/>
              <a:t>Relevance: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Protects </a:t>
            </a:r>
            <a:r>
              <a:rPr lang="en-US" b="1" dirty="0"/>
              <a:t>autonomous vehicles, surveillance systems, and critical infrastructure</a:t>
            </a:r>
            <a:r>
              <a:rPr lang="en-US" dirty="0"/>
              <a:t> from physical adversarial threats.</a:t>
            </a:r>
            <a:endParaRPr lang="en-US" b="1" dirty="0"/>
          </a:p>
          <a:p>
            <a:pPr lvl="1">
              <a:lnSpc>
                <a:spcPct val="100000"/>
              </a:lnSpc>
            </a:pPr>
            <a:r>
              <a:rPr lang="en-US" dirty="0"/>
              <a:t>Builds trust in AI through </a:t>
            </a:r>
            <a:r>
              <a:rPr lang="en-US" dirty="0" err="1"/>
              <a:t>explainability</a:t>
            </a:r>
            <a:r>
              <a:rPr lang="en-US" dirty="0"/>
              <a:t> and resilience.</a:t>
            </a:r>
            <a:endParaRPr lang="en-US" b="1" dirty="0"/>
          </a:p>
          <a:p>
            <a:pPr marL="365760" lvl="1" indent="0">
              <a:lnSpc>
                <a:spcPct val="100000"/>
              </a:lnSpc>
              <a:buNone/>
            </a:pP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78B46D-84C3-2372-F057-3961682E7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762000"/>
            <a:ext cx="457200" cy="45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524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F5ACA-47EC-CD2C-03BA-BF3F210E8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CE925-E50E-ACD1-00AD-6CFFB4A9B2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Conclusion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PhantomNet++ provides a </a:t>
            </a:r>
            <a:r>
              <a:rPr lang="en-US" b="1" dirty="0"/>
              <a:t>modular, distributed, explainable, and autonomous defense system</a:t>
            </a:r>
            <a:r>
              <a:rPr lang="en-US" dirty="0"/>
              <a:t> for vision-based DNNs.</a:t>
            </a:r>
            <a:endParaRPr lang="en-US" b="1" dirty="0"/>
          </a:p>
          <a:p>
            <a:pPr lvl="1">
              <a:lnSpc>
                <a:spcPct val="100000"/>
              </a:lnSpc>
            </a:pPr>
            <a:r>
              <a:rPr lang="en-US" dirty="0"/>
              <a:t>Bridges the gap between adversarial attack simulation, robust detection, automated defense, and secure coordination.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4A589-A52F-0871-5417-B0DCF93720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Future Work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Real-world deployment in </a:t>
            </a:r>
            <a:r>
              <a:rPr lang="en-US" b="1" dirty="0"/>
              <a:t>drones and autonomous vehicles</a:t>
            </a:r>
            <a:r>
              <a:rPr lang="en-US" dirty="0"/>
              <a:t>.</a:t>
            </a:r>
            <a:endParaRPr lang="en-US" b="1" dirty="0"/>
          </a:p>
          <a:p>
            <a:pPr lvl="1">
              <a:lnSpc>
                <a:spcPct val="110000"/>
              </a:lnSpc>
            </a:pPr>
            <a:r>
              <a:rPr lang="en-US" dirty="0"/>
              <a:t>Adapt framework for </a:t>
            </a:r>
            <a:r>
              <a:rPr lang="en-US" b="1" dirty="0"/>
              <a:t>domain-specific adversarial attacks</a:t>
            </a:r>
            <a:r>
              <a:rPr lang="en-US" dirty="0"/>
              <a:t> (e.g., medical imaging, satellite AI).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A21707-D69E-959F-E804-EF234F207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" y="762000"/>
            <a:ext cx="457200" cy="45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45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FADD51-D3EE-9722-39FB-36268E5D8CB5}"/>
              </a:ext>
            </a:extLst>
          </p:cNvPr>
          <p:cNvSpPr txBox="1"/>
          <p:nvPr/>
        </p:nvSpPr>
        <p:spPr>
          <a:xfrm>
            <a:off x="2741612" y="2667000"/>
            <a:ext cx="617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2286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h education presentation with Pi  (widescreen).potx" id="{DF132673-7A8C-4FB7-A35E-0123B6C0D98B}" vid="{CCAAB50D-2EF2-4925-80C2-C83131AE58AC}"/>
    </a:ext>
  </a:extLst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 education presentation with Pi  (widescreen)</Template>
  <TotalTime>1025</TotalTime>
  <Words>628</Words>
  <Application>Microsoft Office PowerPoint</Application>
  <PresentationFormat>Custom</PresentationFormat>
  <Paragraphs>68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Euphemia</vt:lpstr>
      <vt:lpstr>Math 16x9</vt:lpstr>
      <vt:lpstr>PhantomNet++ </vt:lpstr>
      <vt:lpstr>Objectives</vt:lpstr>
      <vt:lpstr>PowerPoint Presentation</vt:lpstr>
      <vt:lpstr>Existing Solutions</vt:lpstr>
      <vt:lpstr>Workflow </vt:lpstr>
      <vt:lpstr>Complexity of Problem</vt:lpstr>
      <vt:lpstr>Methodology</vt:lpstr>
      <vt:lpstr>Tools and Technologies</vt:lpstr>
      <vt:lpstr>Expected Outcomes and Relevance</vt:lpstr>
      <vt:lpstr>Conclusion and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PhantomNet++ </dc:title>
  <dc:creator>(FA22-BCT-007) FARWAH HAMID</dc:creator>
  <cp:lastModifiedBy>(FA22-BCT-007) FARWAH HAMID</cp:lastModifiedBy>
  <cp:revision>12</cp:revision>
  <dcterms:created xsi:type="dcterms:W3CDTF">2025-09-12T05:40:58Z</dcterms:created>
  <dcterms:modified xsi:type="dcterms:W3CDTF">2025-09-13T03:49:06Z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